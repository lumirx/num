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spc="400" kern="0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CONCIERGE · LUMI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9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partnership for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18 million.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  —  Partnership Proposal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64240" cy="10973"/>
          </a:xfrm>
          <a:prstGeom prst="rect">
            <a:avLst/>
          </a:prstGeom>
          <a:solidFill>
            <a:srgbClr val="1E32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Phuket AI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0" y="6035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· Lumi · June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475720" y="457200"/>
            <a:ext cx="137160" cy="137160"/>
          </a:xfrm>
          <a:prstGeom prst="ellipse">
            <a:avLst/>
          </a:prstGeom>
          <a:solidFill>
            <a:srgbClr val="00B5A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short. The infrastructure decision gets made once.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2025 visitors to Phuket (+20% YoY)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Authority of Thailand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2286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4.2M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297680" y="34290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China — the top international market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4160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not their channel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2286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200K+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046720" y="34290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professionals in your ecosystem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160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is a potential merchant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5120640"/>
            <a:ext cx="73152" cy="1005840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1663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travel layer for Phuket gets locked in over the next 12 months. 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consumer brand is in market. Our engine is built. The fastest way to own this category is to stop building parallel stacks and start running on the same one.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NuM 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personal concierge. One AI per person. It remembers.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1E325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 user gets their own AI agent tied to a UUID, with an encrypted profile that learns and adapts over time.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"I'm vegetarian, traveling with a 7-year-old."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"Find us dinner tonight." — NuM proposes a kid-friendly veg-friendly spot without re-asking.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3: User returns for a school visit. NuM remembers the kid's age and the previous shortlist.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continuity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product. Everything else — bookings, leads, vendor routing — is downstream.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2194560"/>
            <a:ext cx="4572000" cy="868680"/>
          </a:xfrm>
          <a:prstGeom prst="rect">
            <a:avLst/>
          </a:prstGeom>
          <a:solidFill>
            <a:srgbClr val="11203A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2194560"/>
            <a:ext cx="54864" cy="868680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226771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brain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25786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LINE · WeChat · SMS · QR — one user, one memory, every channel.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40880" y="3154680"/>
            <a:ext cx="4572000" cy="868680"/>
          </a:xfrm>
          <a:prstGeom prst="rect">
            <a:avLst/>
          </a:prstGeom>
          <a:solidFill>
            <a:srgbClr val="11203A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3154680"/>
            <a:ext cx="54864" cy="868680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3227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profile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35387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KMS envelope encryption on PII, passports, payment tokens. PDPA + GDPR ready.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4114800"/>
            <a:ext cx="4572000" cy="868680"/>
          </a:xfrm>
          <a:prstGeom prst="rect">
            <a:avLst/>
          </a:prstGeom>
          <a:solidFill>
            <a:srgbClr val="11203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4114800"/>
            <a:ext cx="54864" cy="868680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41879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router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78040" y="44988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estate, schools, relocation, visa, medical — separate qualification flow, human handoff.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5074920"/>
            <a:ext cx="4572000" cy="868680"/>
          </a:xfrm>
          <a:prstGeom prst="rect">
            <a:avLst/>
          </a:prstGeom>
          <a:solidFill>
            <a:srgbClr val="11203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5074920"/>
            <a:ext cx="54864" cy="868680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51480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54589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scoped by partner_tenant_id. Tenants never see each other's data.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maps overlap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own the front door. We've built the rooms behind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303520" cy="384048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5303520" cy="73152"/>
          </a:xfrm>
          <a:prstGeom prst="rect">
            <a:avLst/>
          </a:prstGeom>
          <a:solidFill>
            <a:srgbClr val="E9B87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Brand, distribution, ground truth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brand already in market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presence + QR distribution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local merchant network (hotels, tours, yachts, SPA, F&amp;B)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verticals already taxonomized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Front-of-funnel marketing in tourist channels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03520" cy="3840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194560"/>
            <a:ext cx="5303520" cy="73152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651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Memory, depth, monetization rails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2461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per-user memory (vector + tagged)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+ LINE adapters for non-WhatsApp markets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PII vault — passports, payments, school docs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routing (property, schools, relocation, visa)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backbone with KMS isolation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shape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Phuket AI, powered by NuM.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brand. Your distribution. Your merchants. NuM is the engine underneath.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10973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657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of record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AI is provisioned as the Phuket regional tenant on the NuM platform. Your data, your KMS keys, your dashboard. Co-brand at launch — "Phuket AI, powered by NuM" — full white-label available at Enterprise tier.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2606040"/>
            <a:ext cx="3657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53712" y="3291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 you don't have yet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38862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light up WeChat (for the 4.2M Chinese visitors who don't use WhatsApp) and LINE (for the Japanese, Korean, Thai mainland flow). One profile, every channel, same memory.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2606040"/>
            <a:ext cx="3657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30184" y="3291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high-LTV layer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0184" y="38862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routing for property buyers, school enrollment families, long-stay relocators. These are 70/30 in your favor — you close the deal, you bring the relationship, NuM does the qualification.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brings what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 boundaries. No overlap. No turf.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22402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83880" y="22402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(Lumi)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brand · marketing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83880" y="26060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relationships · onboarding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bring your 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83880" y="2971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admin tool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channel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setup + number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3337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into NuM gateway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· LINE channels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703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 QA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3703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maintain adapters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 · memory · prompts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40690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tone input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40690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profile + PDPA compliance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434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counsel review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4434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KMS, audit, scrubber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800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leads (RE, schools, relocation)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48006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deal · own the relationship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83880" y="48006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Qualify, route, score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166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51663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· feed back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83880" y="51663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host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532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escalations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55321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responder during hours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55321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 logic + SLA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deal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Aligned during the pilot. Generous through the partnership.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1E325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 —  MONTH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Waived — NuM absorbs ~[TBD: $2–3k] infra during pilot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commissions split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29352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  ·  NuM / Phuket 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64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split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0" y="32644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70  ·  NuM / Phuket AI  (you close the deal)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593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featured-listing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0" y="3593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  ·  NuM / Phuket AI  (your network)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922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97680" y="39227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stays with the user. You get aggregated, anonymized analytics.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—  MONTH 2 ONWARDS  (if pilot KPIs hit)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9768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[TBD: $5,000] one-time at signing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276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0" y="5276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[TBD: $2,500/mo] base + $0.04 per conversation above 5,000/mo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568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commissions split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0" y="55686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65  ·  NuM / Phuket AI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861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split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0" y="5861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75  ·  NuM / Phuket AI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153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+ exclusivity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97680" y="6153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island, optional exclusivity add-on (+30%) at Pro tier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small. Prove fast. Compound.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3657600" cy="40233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657600" cy="64008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 wedge + pilot proof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2461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Service Account live — Phuket AI now reaches the 4.2M Chinese visitors WhatsApp can't.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persistent memory live behind your WhatsApp number — users stop repeating themselves.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routing on for Property + International Schools verticals.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KPI dashboard. Weekly review.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2194560"/>
            <a:ext cx="3657600" cy="40233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2194560"/>
            <a:ext cx="3657600" cy="64008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3712" y="2651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multi-channel + premium tier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53712" y="3520440"/>
            <a:ext cx="32461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channel live (JP/KR/TH mainland).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AI Premium tier launched — concierge SLA, no featured-listing bias, family-share.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merchants onboarded into the NuM vendor schema.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real-estate close attributed to the partnership.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2194560"/>
            <a:ext cx="3657600" cy="40233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2194560"/>
            <a:ext cx="3657600" cy="64008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30184" y="2651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Territory lock + adjacent markets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0184" y="3520440"/>
            <a:ext cx="32461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→ Enterprise tier; territory exclusivity earned via MAU thresholds.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aggregate intelligence report — sellable to TAT, hotel groups, DMOs.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expansion plan: Bali, Bangkok, Koh Samui under the same engine.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splits with proven traction.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called early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risk we see. How we handle each.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48840"/>
            <a:ext cx="11064240" cy="713232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64008" cy="713232"/>
          </a:xfrm>
          <a:prstGeom prst="rect">
            <a:avLst/>
          </a:prstGeom>
          <a:solidFill>
            <a:srgbClr val="E36F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219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confusion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9080" y="222199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co-brand at launch ("Phuket AI, powered by NuM") and run a 30-day messaging review with your team before any user-visible change. Phuket AI stays the consumer brand. Always.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11064240" cy="713232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935224"/>
            <a:ext cx="64008" cy="713232"/>
          </a:xfrm>
          <a:prstGeom prst="rect">
            <a:avLst/>
          </a:prstGeom>
          <a:solidFill>
            <a:srgbClr val="E36F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0837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risk on your existing stack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3008376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rip-and-replace. Phase 1 is an extension behind your existing WhatsApp number — your users see no change until persistent memory kicks in and recommendations get sharper.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11064240" cy="713232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21608"/>
            <a:ext cx="64008" cy="713232"/>
          </a:xfrm>
          <a:prstGeom prst="rect">
            <a:avLst/>
          </a:prstGeom>
          <a:solidFill>
            <a:srgbClr val="E36F5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94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 on day 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379476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only as good as the merchant data. We invest the first 10 days of the pilot on real vendor content — current hours, real photos, honest segment notes. Funnel without product = chatbot. We don't ship that.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07992"/>
            <a:ext cx="11064240" cy="713232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507992"/>
            <a:ext cx="64008" cy="713232"/>
          </a:xfrm>
          <a:prstGeom prst="rect">
            <a:avLst/>
          </a:prstGeom>
          <a:solidFill>
            <a:srgbClr val="E36F5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58114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/ data residency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69080" y="4581144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ap-southeast-1 (Singapore). Field-level KMS encryption on PII. WeChat traffic logically separated. Local counsel review on every consent string.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94376"/>
            <a:ext cx="11064240" cy="713232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294376"/>
            <a:ext cx="64008" cy="713232"/>
          </a:xfrm>
          <a:prstGeom prst="rect">
            <a:avLst/>
          </a:prstGeom>
          <a:solidFill>
            <a:srgbClr val="E36F5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6752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handoff quality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69080" y="536752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 to a named human on your side with same-day SLA. Lead scoring (A/B/C) so your team isn't drowning in low-quality requests. Status tracking back into the AI so users don't get re-asked.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specific asks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you to move this in the next two weeks.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1E325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45-minute scoping call with your tech lead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understand what's running under the hood today — your LLM, your WhatsApp setup, where state lives. We share our architecture in detail. Honest constraints, no NDAs at this stage.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01168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NDA + a named partnership lead on each side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4206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send a clean two-page NDA. From our side: Dre. From yours: [TBD: name + role]. One thread, one decision-maker, no committee.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011680" y="5029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China-wedge pilot scope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5532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Cheapest, fastest test of the partnership: WeChat Service Account live behind your brand, NuM memory layer on. If it converts Chinese traffic that WhatsApp can't reach, we have our answer.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9FB2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bring the front door.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9FB2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bring the memory.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Phuket gets the AI it deserves.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0973"/>
          </a:xfrm>
          <a:prstGeom prst="rect">
            <a:avLst/>
          </a:prstGeom>
          <a:solidFill>
            <a:srgbClr val="1E325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NUM / LUMI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Lumi  ·  andre@thatislumi.com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PHUKET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5394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[TBD: partnership lead]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5806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[TBD: role · email]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alternative shapes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structures we considered. Here's why we didn't lead with them.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" cy="1828800"/>
          </a:xfrm>
          <a:prstGeom prst="rect">
            <a:avLst/>
          </a:prstGeom>
          <a:solidFill>
            <a:srgbClr val="E9B87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premium-vertical attack only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integration risk. Clean handoff line — general queries stay on Phuket AI's bot; relocation / property / school escalate to NuM Concierge.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initial volume. Two AIs in one user journey = operational complexity. Doesn't solve the WhatsApp-only / China-market gap.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i="1" dirty="0">
                <a:solidFill>
                  <a:srgbClr val="0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lead with it: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0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fallback. Worth piloting as part of the bigger shape, not as the headline.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8288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251960"/>
            <a:ext cx="64008" cy="1828800"/>
          </a:xfrm>
          <a:prstGeom prst="rect">
            <a:avLst/>
          </a:prstGeom>
          <a:solidFill>
            <a:srgbClr val="E9B87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89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 wedge first, broader integration later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test (4–6 weeks once Service Account is sorted). Limited scope = limited risk. Solves a concrete gap (4.2M Chinese visitors / no WhatsApp).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share for NuM if it's the only thing we do. Leaves the persistent-memory upside on the table.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i="1" dirty="0">
                <a:solidFill>
                  <a:srgbClr val="0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lead with it: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0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folded this into the 90-day phase of the recommended shape — it's the proof point, not the whole partnership.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integration sketch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Phuket AI plugs into the NuM engine.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973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USERS  —  ACROSS EVERY CHANNEL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2011680" cy="822960"/>
          </a:xfrm>
          <a:prstGeom prst="rect">
            <a:avLst/>
          </a:prstGeom>
          <a:solidFill>
            <a:srgbClr val="F4F1EC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AI today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2514600"/>
            <a:ext cx="2011680" cy="822960"/>
          </a:xfrm>
          <a:prstGeom prst="rect">
            <a:avLst/>
          </a:prstGeom>
          <a:solidFill>
            <a:srgbClr val="E9B872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— 4.2M / yr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2514600"/>
            <a:ext cx="2011680" cy="822960"/>
          </a:xfrm>
          <a:prstGeom prst="rect">
            <a:avLst/>
          </a:prstGeom>
          <a:solidFill>
            <a:srgbClr val="E9B872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/ KR / 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2514600"/>
            <a:ext cx="2011680" cy="822960"/>
          </a:xfrm>
          <a:prstGeom prst="rect">
            <a:avLst/>
          </a:prstGeom>
          <a:solidFill>
            <a:srgbClr val="F4F1EC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241280" y="2514600"/>
            <a:ext cx="1645920" cy="822960"/>
          </a:xfrm>
          <a:prstGeom prst="rect">
            <a:avLst/>
          </a:prstGeom>
          <a:solidFill>
            <a:srgbClr val="F4F1EC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2606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QR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3272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lobby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1115568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749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AI  —  consumer brand, voice, marketing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526280"/>
            <a:ext cx="11155680" cy="1691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526280"/>
            <a:ext cx="73152" cy="1691640"/>
          </a:xfrm>
          <a:prstGeom prst="rect">
            <a:avLst/>
          </a:prstGeom>
          <a:solidFill>
            <a:srgbClr val="00B5A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ENGINE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983480"/>
            <a:ext cx="2011680" cy="1188720"/>
          </a:xfrm>
          <a:prstGeom prst="rect">
            <a:avLst/>
          </a:prstGeom>
          <a:solidFill>
            <a:srgbClr val="11203A"/>
          </a:solidFill>
          <a:ln w="12700">
            <a:solidFill>
              <a:srgbClr val="1E32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0292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(UUID + channel merge)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72384" y="4983480"/>
            <a:ext cx="2011680" cy="1188720"/>
          </a:xfrm>
          <a:prstGeom prst="rect">
            <a:avLst/>
          </a:prstGeom>
          <a:solidFill>
            <a:srgbClr val="11203A"/>
          </a:solidFill>
          <a:ln w="12700">
            <a:solidFill>
              <a:srgbClr val="1E32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18104" y="50292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Haiku)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30368" y="4983480"/>
            <a:ext cx="2011680" cy="1188720"/>
          </a:xfrm>
          <a:prstGeom prst="rect">
            <a:avLst/>
          </a:prstGeom>
          <a:solidFill>
            <a:srgbClr val="11203A"/>
          </a:solidFill>
          <a:ln w="12700">
            <a:solidFill>
              <a:srgbClr val="1E32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50292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Sonnet + tools)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88352" y="4983480"/>
            <a:ext cx="2011680" cy="1188720"/>
          </a:xfrm>
          <a:prstGeom prst="rect">
            <a:avLst/>
          </a:prstGeom>
          <a:solidFill>
            <a:srgbClr val="11203A"/>
          </a:solidFill>
          <a:ln w="12700">
            <a:solidFill>
              <a:srgbClr val="1E32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34072" y="50292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(pgvector, encrypted PII)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546336" y="4983480"/>
            <a:ext cx="2011680" cy="1188720"/>
          </a:xfrm>
          <a:prstGeom prst="rect">
            <a:avLst/>
          </a:prstGeom>
          <a:solidFill>
            <a:srgbClr val="11203A"/>
          </a:solidFill>
          <a:ln w="12700">
            <a:solidFill>
              <a:srgbClr val="1E32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92056" y="50292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Whale-lead 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 · school · visa)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× PHUKET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 × Phuket AI — Partnership Proposal</dc:title>
  <dc:subject>PptxGenJS Presentation</dc:subject>
  <dc:creator>Dre / Lumi</dc:creator>
  <cp:lastModifiedBy>Dre / Lumi</cp:lastModifiedBy>
  <cp:revision>1</cp:revision>
  <dcterms:created xsi:type="dcterms:W3CDTF">2026-06-11T16:58:27Z</dcterms:created>
  <dcterms:modified xsi:type="dcterms:W3CDTF">2026-06-11T16:58:27Z</dcterms:modified>
</cp:coreProperties>
</file>