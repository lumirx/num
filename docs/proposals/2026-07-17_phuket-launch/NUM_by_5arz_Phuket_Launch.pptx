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 1 funnel</c:v>
                </c:pt>
              </c:strCache>
            </c:strRef>
          </c:tx>
          <c:spPr>
            <a:solidFill>
              <a:srgbClr val="2FD4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7F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Rides</c:v>
                  </c:pt>
                  <c:pt idx="1">
                    <c:v>Scans</c:v>
                  </c:pt>
                  <c:pt idx="2">
                    <c:v>Activated</c:v>
                  </c:pt>
                  <c:pt idx="3">
                    <c:v>Active (6+ msgs)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26250</c:v>
                </c:pt>
                <c:pt idx="1">
                  <c:v>2100</c:v>
                </c:pt>
                <c:pt idx="2">
                  <c:v>1260</c:v>
                </c:pt>
                <c:pt idx="3">
                  <c:v>882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4F7F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9D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0"/>
          <c:min val="0"/>
        </c:scaling>
        <c:delete val="0"/>
        <c:axPos val="l"/>
        <c:majorGridlines>
          <c:spPr>
            <a:ln w="6350" cap="flat">
              <a:solidFill>
                <a:srgbClr val="2230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E"/>
        </a:solidFill>
        <a:ln>
          <a:noFill/>
        </a:ln>
        <a:effectLst/>
      </c:spPr>
    </c:plotArea>
    <c:plotVisOnly val="1"/>
    <c:dispBlanksAs val="span"/>
  </c:chart>
  <c:spPr>
    <a:solidFill>
      <a:srgbClr val="0A0F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70432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FD4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70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5arz</a:t>
            </a:r>
            <a:pPr algn="ctr"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release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737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pPr indent="0" marL="0">
              <a:buNone/>
            </a:pPr>
            <a:r>
              <a:rPr lang="en-US" sz="88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city, one text away.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Launch — pilot proposal &amp; system walkthrough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3708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Phuket InCar Group  ·  July 2026  ·  Dre — 5arz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778240" y="1737360"/>
            <a:ext cx="2880360" cy="2651760"/>
          </a:xfrm>
          <a:prstGeom prst="roundRect">
            <a:avLst>
              <a:gd name="adj" fmla="val 310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06840" y="19385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personal  concierge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06840" y="2286000"/>
            <a:ext cx="2487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LINE · WeChat · SMS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passenger. Their language.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books. It remembers.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the whales.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June we proposed it. In July it's running code.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exists today — this is a launch, not a plan.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8336" cy="1170432"/>
          </a:xfrm>
          <a:prstGeom prst="roundRect">
            <a:avLst>
              <a:gd name="adj" fmla="val 7031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6733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85216" y="226771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28416" y="1554480"/>
            <a:ext cx="2688336" cy="1170432"/>
          </a:xfrm>
          <a:prstGeom prst="roundRect">
            <a:avLst>
              <a:gd name="adj" fmla="val 7031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6733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56432" y="226771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wired (WA · LINE · WeChat · SMS)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554480"/>
            <a:ext cx="2688336" cy="1170432"/>
          </a:xfrm>
          <a:prstGeom prst="roundRect">
            <a:avLst>
              <a:gd name="adj" fmla="val 7031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733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26771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auto-detected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70848" y="1554480"/>
            <a:ext cx="2688336" cy="1170432"/>
          </a:xfrm>
          <a:prstGeom prst="roundRect">
            <a:avLst>
              <a:gd name="adj" fmla="val 7031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98864" y="16733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98864" y="226771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time, cost-tracked per message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5577840" cy="3017520"/>
          </a:xfrm>
          <a:prstGeom prst="roundRect">
            <a:avLst>
              <a:gd name="adj" fmla="val 272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2461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brain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" y="3639312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from your catalogue only — it cannot invent a restaurant, a price, or a review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per user — day 30 knows what day 2 learned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high-value intent and qualifies budget + timeline before any human touches 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to your team the moment a human should take 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5468112" cy="3017520"/>
          </a:xfrm>
          <a:prstGeom prst="roundRect">
            <a:avLst>
              <a:gd name="adj" fmla="val 272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096" y="32461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by design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3096" y="3639312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consent shown on first contact, in the user's language — audited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"DELETE" in any of 9 languages triggers real, verified data erasure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scrubbed before storage; card / passport / Thai ID patterns redacted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clean — row-level security on every table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passenger sees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 No signup. A QR on your seatback screen opens a chat they already use.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937760" cy="4663440"/>
          </a:xfrm>
          <a:prstGeom prst="roundRect">
            <a:avLst>
              <a:gd name="adj" fmla="val 1765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19:02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18223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848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หาร้านอาหารทะเลแถวฉลองให้หน่อย ขอริมน้ำ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63040" y="292608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0E2F2B"/>
          </a:solidFill>
          <a:ln w="9525">
            <a:solidFill>
              <a:srgbClr val="2FD4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9344" y="303580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 กันเอง แอท เพียร์ ค่ะ — ซีฟู้ดริมน้ำ มีตู้กุ้งเป็น ๆ วิวท่าเรือสวยมาก ไปจากกะรนแค่ 20 นาที อยากให้จองโต๊ะริมน้ำคืนนี้ไหมคะ?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searched your approved catalogue — 2 matches, top pick by tier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5029200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18223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ขอโต๊ะ 4 คน 1 ทุ่มนะ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0" y="1508760"/>
            <a:ext cx="5852160" cy="1024128"/>
          </a:xfrm>
          <a:prstGeom prst="roundRect">
            <a:avLst>
              <a:gd name="adj" fmla="val 803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1764792"/>
            <a:ext cx="475488" cy="475488"/>
          </a:xfrm>
          <a:prstGeom prst="ellipse">
            <a:avLst/>
          </a:prstGeom>
          <a:solidFill>
            <a:srgbClr val="0E2F2B"/>
          </a:solidFill>
          <a:ln w="12700">
            <a:solidFill>
              <a:srgbClr val="2FD4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746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16184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language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9659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Thai, Chinese, Russian, Korean… detected from the first message — replies in kind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2679192"/>
            <a:ext cx="5852160" cy="1024128"/>
          </a:xfrm>
          <a:prstGeom prst="roundRect">
            <a:avLst>
              <a:gd name="adj" fmla="val 803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3328" y="2935224"/>
            <a:ext cx="475488" cy="475488"/>
          </a:xfrm>
          <a:prstGeom prst="ellipse">
            <a:avLst/>
          </a:prstGeom>
          <a:solidFill>
            <a:srgbClr val="0E2F2B"/>
          </a:solidFill>
          <a:ln w="12700">
            <a:solidFill>
              <a:srgbClr val="2FD4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27889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remembers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20840" y="313639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"Vegetarian, two kids, hotel in Kata" — carried across days and channels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52160" y="3849624"/>
            <a:ext cx="5852160" cy="1024128"/>
          </a:xfrm>
          <a:prstGeom prst="roundRect">
            <a:avLst>
              <a:gd name="adj" fmla="val 803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4105656"/>
            <a:ext cx="475488" cy="475488"/>
          </a:xfrm>
          <a:prstGeom prst="ellipse">
            <a:avLst/>
          </a:prstGeom>
          <a:solidFill>
            <a:srgbClr val="0E2F2B"/>
          </a:solidFill>
          <a:ln w="12700">
            <a:solidFill>
              <a:srgbClr val="2FD4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4087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39593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20840" y="430682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vendor, offers the booking, routes it to the merchant's phone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852160" y="5020056"/>
            <a:ext cx="5852160" cy="1024128"/>
          </a:xfrm>
          <a:prstGeom prst="roundRect">
            <a:avLst>
              <a:gd name="adj" fmla="val 803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53328" y="5276088"/>
            <a:ext cx="475488" cy="475488"/>
          </a:xfrm>
          <a:prstGeom prst="ellipse">
            <a:avLst/>
          </a:prstGeom>
          <a:solidFill>
            <a:srgbClr val="0E2F2B"/>
          </a:solidFill>
          <a:ln w="12700">
            <a:solidFill>
              <a:srgbClr val="2FD4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5257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20840" y="51297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when to stop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720840" y="547725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and big-ticket asks go to humans — instantly, with context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circuit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from your fleet, supply from your network — the AI matches them and the money is measured at every step.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103120" cy="1417320"/>
          </a:xfrm>
          <a:prstGeom prst="roundRect">
            <a:avLst>
              <a:gd name="adj" fmla="val 580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828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5216" y="215798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per-vehicle tracked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78608" y="221284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52928" y="1691640"/>
            <a:ext cx="2103120" cy="1417320"/>
          </a:xfrm>
          <a:prstGeom prst="roundRect">
            <a:avLst>
              <a:gd name="adj" fmla="val 580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1828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80944" y="215798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· LINE · WeChat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language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74336" y="221284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48656" y="1691640"/>
            <a:ext cx="2103120" cy="1417320"/>
          </a:xfrm>
          <a:prstGeom prst="roundRect">
            <a:avLst>
              <a:gd name="adj" fmla="val 580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1828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76672" y="215798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book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· escalate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70064" y="221284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44384" y="1691640"/>
            <a:ext cx="2103120" cy="1417320"/>
          </a:xfrm>
          <a:prstGeom prst="roundRect">
            <a:avLst>
              <a:gd name="adj" fmla="val 580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828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0" y="215798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+ whale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SLA-timed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65792" y="221284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040112" y="1691640"/>
            <a:ext cx="2103120" cy="1417320"/>
          </a:xfrm>
          <a:prstGeom prst="roundRect">
            <a:avLst>
              <a:gd name="adj" fmla="val 580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8128" y="1828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168128" y="215798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+ fees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transparently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conversion measured between every stage — scan→chat, chat→action, action→booking, booking→baht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11274552" cy="2286000"/>
          </a:xfrm>
          <a:prstGeom prst="roundRect">
            <a:avLst>
              <a:gd name="adj" fmla="val 3600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502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supply loop — your businesses feed the AI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" y="4809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join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512064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intros; our Thai field team collects real photos, hours, prices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429000" y="4809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5arz Verify gate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429000" y="512064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goes live to the AI until approved — quality is the moat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72200" y="4809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sells them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172200" y="512064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businesses get recommended, in 9 languages, with their live promos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91540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915400" y="4809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self-manage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915400" y="512064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merchant runs bookings + listing from their own phone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whale engine — where the real money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Villas, international schools, relocation, long-stay visas. One buyer can outearn a month of dinner bookings.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949440" cy="2377440"/>
          </a:xfrm>
          <a:prstGeom prst="roundRect">
            <a:avLst>
              <a:gd name="adj" fmla="val 3462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10512"/>
            <a:ext cx="548640" cy="548640"/>
          </a:xfrm>
          <a:prstGeom prst="ellipse">
            <a:avLst/>
          </a:prstGeom>
          <a:solidFill>
            <a:srgbClr val="33150F"/>
          </a:solidFill>
          <a:ln w="15240">
            <a:solidFill>
              <a:srgbClr val="FF6F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9184" y="248716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2761488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hears the intent — in any language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57400" y="1810512"/>
            <a:ext cx="548640" cy="548640"/>
          </a:xfrm>
          <a:prstGeom prst="ellipse">
            <a:avLst/>
          </a:prstGeom>
          <a:solidFill>
            <a:srgbClr val="33150F"/>
          </a:solidFill>
          <a:ln w="15240">
            <a:solidFill>
              <a:srgbClr val="FF6F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73352" y="248716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73352" y="2761488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band + timeline, asked naturally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01568" y="1810512"/>
            <a:ext cx="548640" cy="548640"/>
          </a:xfrm>
          <a:prstGeom prst="ellipse">
            <a:avLst/>
          </a:prstGeom>
          <a:solidFill>
            <a:srgbClr val="33150F"/>
          </a:solidFill>
          <a:ln w="15240">
            <a:solidFill>
              <a:srgbClr val="FF6F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248716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761488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your specialist by vertical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45736" y="1810512"/>
            <a:ext cx="548640" cy="548640"/>
          </a:xfrm>
          <a:prstGeom prst="ellipse">
            <a:avLst/>
          </a:prstGeom>
          <a:solidFill>
            <a:srgbClr val="33150F"/>
          </a:solidFill>
          <a:ln w="15240">
            <a:solidFill>
              <a:srgbClr val="FF6F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61688" y="248716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61688" y="2761488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clock on every lead — nothing rots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1810512"/>
            <a:ext cx="548640" cy="548640"/>
          </a:xfrm>
          <a:prstGeom prst="ellipse">
            <a:avLst/>
          </a:prstGeom>
          <a:solidFill>
            <a:srgbClr val="33150F"/>
          </a:solidFill>
          <a:ln w="15240">
            <a:solidFill>
              <a:srgbClr val="FF6F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05856" y="248716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05856" y="2761488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network closes; the split pays you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80960" y="1554480"/>
            <a:ext cx="4023360" cy="1170432"/>
          </a:xfrm>
          <a:prstGeom prst="roundRect">
            <a:avLst>
              <a:gd name="adj" fmla="val 7031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08976" y="1673352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70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808976" y="2267712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whale-lead revenue split — 70 in YOUR favor. You close; you keep the bigger share.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2880360"/>
            <a:ext cx="4023360" cy="1170432"/>
          </a:xfrm>
          <a:prstGeom prst="roundRect">
            <a:avLst>
              <a:gd name="adj" fmla="val 7031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08976" y="2999232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808976" y="3593592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whale leads targeted in pilot month one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11247120" cy="1920240"/>
          </a:xfrm>
          <a:prstGeom prst="roundRect">
            <a:avLst>
              <a:gd name="adj" fmla="val 428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31596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 finds whales other channels miss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4681728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the tourist asking about beach dinners on day 2 asks about schools on day 6 — NUM connects those dots because it's the same remembered relationship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Chinese buyers qualify in Chinese, Russians in Russian — no funnel drop at the language barrier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arrives briefed: budget, timeline, family composition, and the full context of what the AI already knows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run their side from a phone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emails, no calls to us, no training courses. Accept a booking in one tap; edit the listing the AI sells from.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669280" cy="1325880"/>
          </a:xfrm>
          <a:prstGeom prst="roundRect">
            <a:avLst>
              <a:gd name="adj" fmla="val 620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7465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6656" y="2112264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· revenue · NPS — the merchant's scoreboard, live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669280" cy="1325880"/>
          </a:xfrm>
          <a:prstGeom prst="roundRect">
            <a:avLst>
              <a:gd name="adj" fmla="val 620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4536" y="17465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74536" y="2112264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"Chinese family · 5 guests · tonight 19:00 · window table" → Accept / Decline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5669280" cy="1325880"/>
          </a:xfrm>
          <a:prstGeom prst="roundRect">
            <a:avLst>
              <a:gd name="adj" fmla="val 620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32278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" y="359359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hours, promotions — and the exact words the AI uses to describe them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081528"/>
            <a:ext cx="5669280" cy="1325880"/>
          </a:xfrm>
          <a:prstGeom prst="roundRect">
            <a:avLst>
              <a:gd name="adj" fmla="val 620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32278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asks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74536" y="359359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demand: "6 people asked about spice levels this week" — free market research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0E2F2B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9194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gate — 5arz Verify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5266944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business and every material edit is held for approval before the AI can recommend it. Tourists never see an unvetted vendor; agents touching whale money get license checks. Quality is what makes NUM trustworthy — and trust is what makes it bookable.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console, seven views — everyone runs it from a phone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English ⇄ Thai one tap. Live demo on my phone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669280" cy="987552"/>
          </a:xfrm>
          <a:prstGeom prst="roundRect">
            <a:avLst>
              <a:gd name="adj" fmla="val 833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642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19933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circuit + controls — my view (and yours)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669280" cy="987552"/>
          </a:xfrm>
          <a:prstGeom prst="roundRect">
            <a:avLst>
              <a:gd name="adj" fmla="val 833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4536" y="16642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74536" y="19933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ops desk: live chats, SLA queue, channel health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5669280" cy="987552"/>
          </a:xfrm>
          <a:prstGeom prst="roundRect">
            <a:avLst>
              <a:gd name="adj" fmla="val 833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798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31272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pilot KPIs vs targets — our weekly meeting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2688336"/>
            <a:ext cx="5669280" cy="987552"/>
          </a:xfrm>
          <a:prstGeom prst="roundRect">
            <a:avLst>
              <a:gd name="adj" fmla="val 833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2798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Specialist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74536" y="31272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leads, briefed by the AI, with an SLA clock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5669280" cy="987552"/>
          </a:xfrm>
          <a:prstGeom prst="roundRect">
            <a:avLst>
              <a:gd name="adj" fmla="val 833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931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" y="42611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self-serves: bookings, listing, reviews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822192"/>
            <a:ext cx="5669280" cy="987552"/>
          </a:xfrm>
          <a:prstGeom prst="roundRect">
            <a:avLst>
              <a:gd name="adj" fmla="val 833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4536" y="3931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74536" y="42611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replies, catch errors, tune the Thai voice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5669280" cy="987552"/>
          </a:xfrm>
          <a:prstGeom prst="roundRect">
            <a:avLst>
              <a:gd name="adj" fmla="val 833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50657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Lumi/5arz Admin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tenants, all costs — platform side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4956048"/>
            <a:ext cx="5376672" cy="987552"/>
          </a:xfrm>
          <a:prstGeom prst="roundRect">
            <a:avLst>
              <a:gd name="adj" fmla="val 8333"/>
            </a:avLst>
          </a:prstGeom>
          <a:solidFill>
            <a:srgbClr val="0E2F2B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4536" y="5120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needs zero new software — it installs from a link, works on any phone, and speaks Thai.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and operated under 5arz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 company behind the product — with the verification and payment layers named for what they 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6656" y="2651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 concierge across WhatsApp, LINE, WeChat, SMS. Persistent per-user memory. 9 languages. The consumer never pays.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8536" y="160020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5arz Verify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07992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07992" y="26517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vetting before anything reaches the AI. License checks on whale-money verticals (agents, schools, visa). PDPA compliance and audited consent built in.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07992" y="5285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manual approvals in-console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19872" y="160020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5arz PayRails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39328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layer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39328" y="26517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transparent commission ledger — every booking and lead logged, monthly settlement, both sides see the same numbers.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(post-gate): in-chat checkout with PromptPay + WeChat Pay.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39328" y="5285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sequencing — no payment risk in pilot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terms — unchanged from June, now with running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vehicles · one month · free to passengers · no setup fee · 5arz absorbs infra (~USD 1.8–2.5k).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&amp; affiliate commissions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163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split — shared engine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828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70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80560" y="25786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leads (RE · school · relocation · visa)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163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to you — your network closes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828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321040" y="25786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featured-listing fees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21040" y="3163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to you — your relationships, your sale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532120" cy="2103120"/>
          </a:xfrm>
          <a:prstGeom prst="roundRect">
            <a:avLst>
              <a:gd name="adj" fmla="val 391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41330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" y="449884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vehicles + QR install + driver briefing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introductions (target 40+ in week 1–2)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Chinese-market access + WeChat account decision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concierge handler + whale-closing specialists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513832" cy="2103120"/>
          </a:xfrm>
          <a:prstGeom prst="roundRect">
            <a:avLst>
              <a:gd name="adj" fmla="val 3913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41330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bring (5arz)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37376" y="449884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AI system — built, tested, PDPA-compliant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7-role phone console incl. your live dashboard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field team for vendor onboarding + voice QA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hosting, LLM and infra costs through the pilot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Month-one math — conservative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vehicles · ~25 rides/day · 8% scan · 60% activation. June model, unchanged.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97680" cy="1170432"/>
          </a:xfrm>
          <a:prstGeom prst="roundRect">
            <a:avLst>
              <a:gd name="adj" fmla="val 7031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34656" y="167335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$13.2k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534656" y="226771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gross revenue (bookings ~$4.2k + ~30 whale leads ~$9k)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06640" y="2880360"/>
            <a:ext cx="4297680" cy="1170432"/>
          </a:xfrm>
          <a:prstGeom prst="roundRect">
            <a:avLst>
              <a:gd name="adj" fmla="val 7031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34656" y="299923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534656" y="359359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share, month one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06640" y="4206240"/>
            <a:ext cx="4297680" cy="1170432"/>
          </a:xfrm>
          <a:prstGeom prst="roundRect">
            <a:avLst>
              <a:gd name="adj" fmla="val 7031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34656" y="432511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$4.8k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534656" y="49194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5arz share — we make money only when you do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55321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value is the floor, not the ceiling: $300/lead is a referral-fee average — a single closed villa purchase carries more than the whole month's booking commissions.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KPIs, one gate — measured together, weekly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live on your Executive dashboard. Week 7 isn't a debate; it's a readout.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669280" cy="804672"/>
          </a:xfrm>
          <a:prstGeom prst="roundRect">
            <a:avLst>
              <a:gd name="adj" fmla="val 1022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45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rate per ride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63440" y="164592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669280" cy="804672"/>
          </a:xfrm>
          <a:prstGeom prst="roundRect">
            <a:avLst>
              <a:gd name="adj" fmla="val 1022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4536" y="1645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(scan → first message)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61320" y="164592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5669280" cy="804672"/>
          </a:xfrm>
          <a:prstGeom prst="roundRect">
            <a:avLst>
              <a:gd name="adj" fmla="val 1022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57860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depth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57860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 messages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2487168"/>
            <a:ext cx="5669280" cy="804672"/>
          </a:xfrm>
          <a:prstGeom prst="roundRect">
            <a:avLst>
              <a:gd name="adj" fmla="val 1022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257860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return rate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61320" y="257860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25%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5669280" cy="804672"/>
          </a:xfrm>
          <a:prstGeom prst="roundRect">
            <a:avLst>
              <a:gd name="adj" fmla="val 1022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5112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conversion (activated users)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51129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12%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55080" y="3419856"/>
            <a:ext cx="5669280" cy="804672"/>
          </a:xfrm>
          <a:prstGeom prst="roundRect">
            <a:avLst>
              <a:gd name="adj" fmla="val 1022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4536" y="35112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whale leads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61320" y="351129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352544"/>
            <a:ext cx="5669280" cy="804672"/>
          </a:xfrm>
          <a:prstGeom prst="roundRect">
            <a:avLst>
              <a:gd name="adj" fmla="val 1022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44439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Onboarded-merchant NPS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44398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 / 10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55080" y="4370832"/>
            <a:ext cx="5376672" cy="1691640"/>
          </a:xfrm>
          <a:prstGeom prst="roundRect">
            <a:avLst>
              <a:gd name="adj" fmla="val 4865"/>
            </a:avLst>
          </a:prstGeom>
          <a:solidFill>
            <a:srgbClr val="0E2F2B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4536" y="4526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Week-7 gate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74536" y="487375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4 of 7 → structured Phuket operating agreement with an exclusive territory window for you. Miss → no-fault wrap: you keep the merchant relationships, we keep the platform learnings.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turns it 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is ready this week. The month starts when the cars 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6766560" cy="731520"/>
          </a:xfrm>
          <a:prstGeom prst="roundRect">
            <a:avLst>
              <a:gd name="adj" fmla="val 11250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184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6184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618488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WhatsApp Business sender — approval takes 1–3 days, submit first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6766560" cy="731520"/>
          </a:xfrm>
          <a:prstGeom prst="roundRect">
            <a:avLst>
              <a:gd name="adj" fmla="val 11250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597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45973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decision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459736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Service Account (days) vs fresh registration (4–6 weeks)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6766560" cy="731520"/>
          </a:xfrm>
          <a:prstGeom prst="roundRect">
            <a:avLst>
              <a:gd name="adj" fmla="val 11250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0098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3009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intros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300984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40 businesses — our Thai team does the legwork, your name opens doors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6766560" cy="731520"/>
          </a:xfrm>
          <a:prstGeom prst="roundRect">
            <a:avLst>
              <a:gd name="adj" fmla="val 11250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422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1422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install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4142232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vehicles + driver briefing pack — codes are generated per car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901184"/>
            <a:ext cx="6766560" cy="731520"/>
          </a:xfrm>
          <a:prstGeom prst="roundRect">
            <a:avLst>
              <a:gd name="adj" fmla="val 11250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983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49834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498348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concierge handler for escalations + your whale-closing specialists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0" y="1536192"/>
            <a:ext cx="4206240" cy="3108960"/>
          </a:xfrm>
          <a:prstGeom prst="roundRect">
            <a:avLst>
              <a:gd name="adj" fmla="val 2647"/>
            </a:avLst>
          </a:prstGeom>
          <a:solidFill>
            <a:srgbClr val="101828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17536" y="1691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17536" y="20848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796528" y="208483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live · QRs printed · first 10 vendors 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17536" y="25968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96528" y="259689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vendors · install · driver briefing · dogfood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17536" y="3108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96528" y="31089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in pilot vehicles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17536" y="36210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796528" y="362102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 · weekly KPI reviews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17536" y="41330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96528" y="413308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→ operating agreement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98080" y="4800600"/>
            <a:ext cx="4206240" cy="1280160"/>
          </a:xfrm>
          <a:prstGeom prst="roundRect">
            <a:avLst>
              <a:gd name="adj" fmla="val 6429"/>
            </a:avLst>
          </a:prstGeom>
          <a:solidFill>
            <a:srgbClr val="0E2F2B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17536" y="49560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is ready.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is yours.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turn it on.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</a:t>
            </a:r>
            <a:pPr indent="0" marL="0">
              <a:buNone/>
            </a:pPr>
            <a:r>
              <a:rPr lang="en-US" sz="1000" b="1" dirty="0">
                <a:solidFill>
                  <a:srgbClr val="2F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5arz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2026-07-20T20:39:08Z</dcterms:created>
  <dcterms:modified xsi:type="dcterms:W3CDTF">2026-07-20T20:39:08Z</dcterms:modified>
</cp:coreProperties>
</file>