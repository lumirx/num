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6350">
            <a:solidFill>
              <a:srgbClr val="1522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6400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640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AEROZ // SISTER BRAND · NUM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128016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spc="-10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</a:t>
            </a:r>
            <a:endParaRPr lang="en-US" sz="180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PERSONAL CONCIERGE — IN YOUR POCKET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371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Proposal for the Phuket InCar Group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Lumi · the operator of AEROZ AI for regulated supply chain.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autonomous-agent architecture, now in hospitality.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943600"/>
            <a:ext cx="12161520" cy="4572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  ·  DRE / LUMI  ·  andre@thatislumi.com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PHUKET  ·  PILOT  ·  Q3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// THE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Phuket is the most underserved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high-intent tourism market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Southeast Asia.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~20M visitors a year. Six languages on the ground. A captive in-car audience that today sees billboards and silence. No AI concierge. No persistent memory. No follow-up. The biggest segment — Chinese tourists — gets nothing in their native channel.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0" y="109728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~20M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0" y="18653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VISITORS / 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0" y="256032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00" y="332841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VEHICLES READY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402336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144000" y="479145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HOTEL NETWORK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0" y="5486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44000" y="6035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CONCIERGES OPERATING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1B3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// 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just lined up.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737360" y="1874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finally good enough to be a real concierge.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4231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Multilingual, low-latency, tool-using LLMs make a per-user agent that books, remembers, and adapts realistic — and cheap (~$0.64 / active user / month variable COGS).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73736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distribution we'd otherwise pay millions for.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38404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in-car screens + 100+ hotel relationships + 5 years on the island = the funnel and the trust. We bring the AI. You bring the audience.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737360" y="4709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travel is back, and nothing serves it.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52578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is the only channel. Every Western tooling stack ignores it. A WeChat-native concierge on day one is rare leverage.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// 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gets their own AI.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to a UUID. Encrypted profile. Learns and adapts. Lives in WhatsApp, LINE, WeChat — same brain across all of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560320"/>
            <a:ext cx="73152" cy="1737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MEMORY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their kid is 7 and vegetarian once. Never asked again — day 1 or day 30.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539496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560320"/>
            <a:ext cx="73152" cy="1737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MULTI-CHANNEL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154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· LINE · WeChat · SMS · In-car QR · Web. One brain. Plug-in adapters.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539496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480560"/>
            <a:ext cx="73152" cy="1737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WHALE-LEAD AWARE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real-estate / school / relocation intent. Routes to your humans, not affiliate links.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480560"/>
            <a:ext cx="539496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480560"/>
            <a:ext cx="73152" cy="1737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MULTI-TENANT BY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user, vendor, conversation scoped to your tenant. Your data stays yours.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// HOW IT FEELS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conversation, not a dashboard.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754880" cy="4572000"/>
          </a:xfrm>
          <a:prstGeom prst="roundRect">
            <a:avLst>
              <a:gd name="adj" fmla="val 3000"/>
            </a:avLst>
          </a:prstGeom>
          <a:solidFill>
            <a:srgbClr val="152238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· WeChat · 09:41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931920" cy="704088"/>
          </a:xfrm>
          <a:prstGeom prst="roundRect">
            <a:avLst>
              <a:gd name="adj" fmla="val 10390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31720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Lin: 我们刚到普吉，有没有适合7岁小孩的素食晚餐？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3081528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127248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晚上好 Lin — based on what you've told me (vegetarian, traveling with Mei, 7yo), I'd suggest 3 spots near Layan.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3931920" cy="704088"/>
          </a:xfrm>
          <a:prstGeom prst="roundRect">
            <a:avLst>
              <a:gd name="adj" fmla="val 10390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160520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please. And any good international schools? We may move here.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4910328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956048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school specialist from our partner network will reach out tomorrow with 2 short-listed options for Mei's age.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BEHIND THE SCENES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40487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331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auto-detected → ZH-CN. Same brain responds in user's language.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95351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3 stored facts about Lin's preferences and party. No re-asking.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50215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429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search filtered to Layan + veg-friendly + kid-friendly.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05079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977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tool ready — would create booking + log commission split.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59943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526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question classified as WHALE_LEAD. Lead row created. Partner human notified within SLA.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514807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5074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logged. Audit-defensible by design. PII never echoed back.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1B3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// CREDIBILITY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 has shipped this before.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AEROZ runs autonomous AI agents in regulated supply chain — pharma DSCSA, EU battery, UAE/GCC. Same agent loop: research, draft, QA, reviewer queue, append-only audit log. Operational today.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94960" cy="32004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08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AEROZ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· REGULATED ENTERPRISE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Pharma DSCSA compliance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590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EU battery passport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882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UAE / GCC supply chain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175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&lt;200ms response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468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40+ integrations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760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100% audit log coverage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108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 · CONSUMER CONCIERGE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Same agent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590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Persistent per-user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882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Multi-channel (WA / LINE / WeChat)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5175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Whale-lead routing built-in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5468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Multi-tenant from day 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760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Encrypted PII vault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//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Channel-agnostic brain. Tenant-isolated data.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solidFill>
            <a:srgbClr val="152238"/>
          </a:solidFill>
          <a:ln w="19050">
            <a:solidFill>
              <a:srgbClr val="1B3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In-car QR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383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 (Haiku)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agent (Sonnet)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(pgvector)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3836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solidFill>
            <a:srgbClr val="152238"/>
          </a:solidFill>
          <a:ln w="19050">
            <a:solidFill>
              <a:srgbClr val="1B3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+ PARTNERS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profile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Whale leads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Per-tenant scope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836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3291840"/>
            <a:ext cx="0" cy="1828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4754880"/>
            <a:ext cx="0" cy="1828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1B3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// THE PILOT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 vehicles. 1 month. Clear KPIs.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420624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DELIVERS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AI brain + memory + per-user profile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44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FastAPI backend + Supabase tenant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284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Channel adapters (WA · LINE · WeChat)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124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Per-vehicle QR codes (35 cars)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965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Encrypted PII vault from day 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Partner read-only KPI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646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PDPA consent + delete-me 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2486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Daily monitoring + weekly tuning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534924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DELIVERS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30–40 vehicles equipped with QR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2944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WeChat Service Account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3284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10–15 seed vendors from your network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7124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1–2 RE partners + 1 school + 1 relo firm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0965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Driver briefing + physical install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480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Native-language QA (TH, ZH-CN)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8646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Named local lead handler (same-day SLA)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52486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PDPA / local counsel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// PILOT KPIs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numbers. We watch them weekly together.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9496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MONTH-1 TARGET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PROVES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972800" cy="18288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rate per ride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In-car attention + creative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10972800" cy="4572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98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898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898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flow + first reply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374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session depth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33741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 msgs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3374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Usefulness — not a one-shot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22192"/>
            <a:ext cx="10972800" cy="4572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9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return 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849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25%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3849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product working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325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conversion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4325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4325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revenue proof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773168"/>
            <a:ext cx="10972800" cy="4572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whale leads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upside vertical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276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NPS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5276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8/10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0" y="5276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1B3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// PILOT ECONOMICS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split the upside.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tier: free to you and your passengers. Lumi absorbs infra (~$2.3k for the month). Numbers below are conservative — 35 vehicles, 25 rides/day, 8% scan, 60% activation.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651760" cy="155448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26,250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RIDES IN THE PILOT 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2743200"/>
            <a:ext cx="2651760" cy="155448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033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 SCANS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2651760" cy="155448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~880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58368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281160" y="2743200"/>
            <a:ext cx="2651760" cy="155448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46404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QUALIFIED WHALE LEADS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SPLIT — PILOT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pilot revenue (estimate)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~$13.5K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367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commissions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5367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5367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 : Partner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6601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Whale leads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5660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70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5660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 : Partner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952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 net (after absorbing infra)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0" y="5952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~$2.6K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5952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costs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245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share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52160" y="6245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~$8.6K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6245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pocket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AFTER THE PILOT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→ Pro → Enterprise.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hit at least 4 of 7 KPIs, we move to a structured Phuket operating agreement. The Pro contract is a multi-hundred-K USD net business for both sides per year.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3611880" cy="3566160"/>
          </a:xfrm>
          <a:prstGeom prst="rect">
            <a:avLst/>
          </a:prstGeom>
          <a:solidFill>
            <a:srgbClr val="152238"/>
          </a:solidFill>
          <a:ln w="19050">
            <a:solidFill>
              <a:srgbClr val="1B3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Lumi absorbs infra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727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50/50 bookings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111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30/70 whale leads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495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Decision gate at week 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651760"/>
            <a:ext cx="3611880" cy="3566160"/>
          </a:xfrm>
          <a:prstGeom prst="rect">
            <a:avLst/>
          </a:prstGeom>
          <a:solidFill>
            <a:srgbClr val="CADC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 / mo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$5K setup, 6-mo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35/65 bookings (in your favor)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727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25/75 whale leads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5111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30/70 merchant subs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5495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Read-only 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2651760"/>
            <a:ext cx="3611880" cy="3566160"/>
          </a:xfrm>
          <a:prstGeom prst="rect">
            <a:avLst/>
          </a:prstGeom>
          <a:solidFill>
            <a:srgbClr val="152238"/>
          </a:solidFill>
          <a:ln w="19050">
            <a:solidFill>
              <a:srgbClr val="1B3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$8–15K / mo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9536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$25K setup, exclusivity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25/75 bookings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4727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20/80 whale leads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0" y="5111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Multi-city territory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5495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White-label option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1B3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// THE YEAR AFTER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annualized take (Pro tier).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state, single-tenant Pro contract. Conservative MAU ramp (~10K mature). Partner-favored splits.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697480" cy="18288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$33.6K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 COMMISSIONS · PARTNER SHARE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2468880"/>
            <a:ext cx="2697480" cy="18288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$135K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0332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WHALE-LEAD REVENUE · PARTNER SHARE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2468880"/>
            <a:ext cx="2697480" cy="18288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$58.8K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 SUBS · PARTNER SHARE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281160" y="2468880"/>
            <a:ext cx="2697480" cy="182880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~$227K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6404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ANNUAL · NET ESTIMATE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solidFill>
            <a:srgbClr val="E1ECF4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 annual take (same contract):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~$117K net @ ~85% gross margin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sides win. Numbers scale ~3× at Enterprise tier with exclusivity.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//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now → public pilot in 8 weeks.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972800" cy="4572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6691" y="3538728"/>
            <a:ext cx="274320" cy="2743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3771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0891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9451" y="3886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pilot terms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54234" y="3538728"/>
            <a:ext cx="274320" cy="2743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1314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68434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76994" y="3886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+ QR codes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21777" y="3538728"/>
            <a:ext cx="274320" cy="2743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8857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5977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44537" y="3886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live in staging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538728"/>
            <a:ext cx="274320" cy="2743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DOGFOOD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3886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use, 5 cars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56863" y="3538728"/>
            <a:ext cx="274320" cy="2743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3943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1063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79623" y="3886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 cars public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24406" y="3538728"/>
            <a:ext cx="274320" cy="2743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21486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W5–6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38606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7166" y="3886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KPI reviews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691949" y="3538728"/>
            <a:ext cx="274320" cy="2743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89029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06149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14709" y="3886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wrap + Phase 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 cars can go live within 14 days of the MOU.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1B3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// RISKS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list of what could go wrong.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we'd handle it. We'd rather flag this before we sign than after.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73152" cy="118872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misses KPIs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Cost-neutral wrap. Lumi absorbed infra. You keep merchant relationships.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37744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377440"/>
            <a:ext cx="73152" cy="118872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5146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data is thin or stale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 days are content-quality investment with your team. AI is only as good as the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03320"/>
            <a:ext cx="73152" cy="118872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404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verification delays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2519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existing verified account if available (saves 4–6 weeks). Launch on WA + LINE first.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703320"/>
            <a:ext cx="73152" cy="118872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8404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pushback / install friction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briefing pack + commission visibility. Drivers see scan stats — feels like a tool not a chore.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029200"/>
            <a:ext cx="73152" cy="118872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1663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PDPA / local privacy concerns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577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PII vault + first-message consent + delete-me. AEROZ compliance DNA applies.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5029200"/>
            <a:ext cx="5349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5029200"/>
            <a:ext cx="73152" cy="1188720"/>
          </a:xfrm>
          <a:prstGeom prst="rect">
            <a:avLst/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51663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lock-in worries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5577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never licensed. You're not stuck. Switching cost = the merchant data you've curated, which stays yours.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× PHUKET INCAR ·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2026-05-26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// 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decisions get us to launch.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these are confirmed, the first cars go live within 14 days.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4048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30 / 35 / 40 vehicles.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986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6304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path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971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verified Service Account or register fresh.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655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63040" y="3511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seed list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538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from your network: dining, tours, plus 1 school + 1 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32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63040" y="40782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lead handler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41056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person + same-day SLA during business hours.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5994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463040" y="4645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Phuket dates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467258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can we meet in person — we'll match your window.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897880"/>
            <a:ext cx="1216152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989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pilot this together.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1B3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Dre · andre@thatislumi.com · aeroz.io/ai-management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0" y="6217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600" kern="0" dirty="0">
                <a:solidFill>
                  <a:srgbClr val="0B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 · NUM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Lumi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 × Phuket InCar Group — Pilot Pitch</dc:title>
  <dc:subject>PptxGenJS Presentation</dc:subject>
  <dc:creator>Lumi · Dre</dc:creator>
  <cp:lastModifiedBy>Lumi · Dre</cp:lastModifiedBy>
  <cp:revision>1</cp:revision>
  <dcterms:created xsi:type="dcterms:W3CDTF">2026-05-26T17:08:20Z</dcterms:created>
  <dcterms:modified xsi:type="dcterms:W3CDTF">2026-05-26T17:08:20Z</dcterms:modified>
</cp:coreProperties>
</file>